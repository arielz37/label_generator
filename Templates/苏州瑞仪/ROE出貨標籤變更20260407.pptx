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69" r:id="rId2"/>
    <p:sldId id="572" r:id="rId3"/>
    <p:sldId id="574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289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Li" initials="JL" lastIdx="2" clrIdx="0"/>
  <p:cmAuthor id="2" name="zzhen.wa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3293FD"/>
    <a:srgbClr val="F0A2F3"/>
    <a:srgbClr val="FEFFE1"/>
    <a:srgbClr val="FCFFDA"/>
    <a:srgbClr val="ED7C31"/>
    <a:srgbClr val="028458"/>
    <a:srgbClr val="E0F8F9"/>
    <a:srgbClr val="277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7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0" y="108"/>
      </p:cViewPr>
      <p:guideLst>
        <p:guide orient="horz" pos="2128"/>
        <p:guide pos="28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fld id="{30C9ED56-24EE-402D-A5E9-0041C7A9A9CA}" type="datetimeFigureOut">
              <a:rPr lang="zh-CN" altLang="en-US" smtClean="0"/>
              <a:t>2026/4/8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fld id="{12F1397E-4F28-45C2-90C2-F738623D9C1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391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版面配置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6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版面配置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9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字版面配置區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460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789699" y="1946050"/>
            <a:ext cx="2375963" cy="2806933"/>
          </a:xfrm>
          <a:prstGeom prst="rect">
            <a:avLst/>
          </a:prstGeom>
          <a:noFill/>
          <a:ln w="203200">
            <a:gradFill flip="none" rotWithShape="1">
              <a:gsLst>
                <a:gs pos="50000">
                  <a:srgbClr val="13A59B"/>
                </a:gs>
                <a:gs pos="50000">
                  <a:srgbClr val="DFDAD8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 rot="10800000">
            <a:off x="-2016894" y="1946051"/>
            <a:ext cx="2375963" cy="2806933"/>
          </a:xfrm>
          <a:prstGeom prst="rect">
            <a:avLst/>
          </a:prstGeom>
          <a:noFill/>
          <a:ln w="203200">
            <a:gradFill flip="none" rotWithShape="1">
              <a:gsLst>
                <a:gs pos="50000">
                  <a:srgbClr val="13A59B"/>
                </a:gs>
                <a:gs pos="50000">
                  <a:srgbClr val="DFDAD8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六边形 4"/>
          <p:cNvSpPr>
            <a:spLocks noChangeArrowheads="1"/>
          </p:cNvSpPr>
          <p:nvPr userDrawn="1"/>
        </p:nvSpPr>
        <p:spPr bwMode="auto">
          <a:xfrm>
            <a:off x="3706786" y="1496383"/>
            <a:ext cx="1800000" cy="1605600"/>
          </a:xfrm>
          <a:prstGeom prst="hexagon">
            <a:avLst/>
          </a:prstGeom>
          <a:solidFill>
            <a:srgbClr val="0FA498"/>
          </a:solidFill>
          <a:ln w="9525">
            <a:noFill/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endParaRPr lang="zh-CN" altLang="en-US" sz="1350" dirty="0">
              <a:ea typeface="Microsoft YaHei" panose="020B0503020204020204" pitchFamily="3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05807" y="3712210"/>
            <a:ext cx="2201959" cy="4809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 b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6" name="文本占位符 24"/>
          <p:cNvSpPr>
            <a:spLocks noGrp="1"/>
          </p:cNvSpPr>
          <p:nvPr>
            <p:ph type="body" sz="quarter" idx="11" hasCustomPrompt="1"/>
          </p:nvPr>
        </p:nvSpPr>
        <p:spPr>
          <a:xfrm>
            <a:off x="2342660" y="4752975"/>
            <a:ext cx="1400073" cy="3546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ctr"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8" name="文本占位符 24"/>
          <p:cNvSpPr>
            <a:spLocks noGrp="1"/>
          </p:cNvSpPr>
          <p:nvPr>
            <p:ph type="body" sz="quarter" idx="12" hasCustomPrompt="1"/>
          </p:nvPr>
        </p:nvSpPr>
        <p:spPr>
          <a:xfrm>
            <a:off x="3988595" y="4752975"/>
            <a:ext cx="1400073" cy="3546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ctr"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</a:t>
            </a:r>
          </a:p>
        </p:txBody>
      </p:sp>
      <p:sp>
        <p:nvSpPr>
          <p:cNvPr id="29" name="文本占位符 24"/>
          <p:cNvSpPr>
            <a:spLocks noGrp="1"/>
          </p:cNvSpPr>
          <p:nvPr>
            <p:ph type="body" sz="quarter" idx="13" hasCustomPrompt="1"/>
          </p:nvPr>
        </p:nvSpPr>
        <p:spPr>
          <a:xfrm>
            <a:off x="5634533" y="4752975"/>
            <a:ext cx="1400073" cy="35460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ctr"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3371" y="769938"/>
            <a:ext cx="9140633" cy="0"/>
          </a:xfrm>
          <a:prstGeom prst="line">
            <a:avLst/>
          </a:prstGeom>
          <a:ln>
            <a:solidFill>
              <a:srgbClr val="0FA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-9571" y="735432"/>
            <a:ext cx="1451125" cy="0"/>
          </a:xfrm>
          <a:prstGeom prst="line">
            <a:avLst/>
          </a:prstGeom>
          <a:ln w="98425">
            <a:solidFill>
              <a:srgbClr val="0FA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71800" y="58420"/>
            <a:ext cx="5241985" cy="621132"/>
          </a:xfrm>
          <a:prstGeom prst="rect">
            <a:avLst/>
          </a:prstGeom>
        </p:spPr>
        <p:txBody>
          <a:bodyPr tIns="144000">
            <a:normAutofit/>
          </a:bodyPr>
          <a:lstStyle>
            <a:lvl1pPr algn="l"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2" name="Picture 14" descr="logo标准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21078" y="6399848"/>
            <a:ext cx="400050" cy="385762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3" name="Picture 171"/>
          <p:cNvPicPr>
            <a:picLocks noChangeAspect="1" noChangeArrowheads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229" y="87710"/>
            <a:ext cx="601262" cy="562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9105203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3733" y="9"/>
            <a:ext cx="2014538" cy="33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D8EDA-05CA-4088-8AA2-7C4BCE00B5A5}" type="slidenum">
              <a:rPr lang="en-US" altLang="zh-TW"/>
              <a:t>‹#›</a:t>
            </a:fld>
            <a:r>
              <a:rPr lang="en-US" altLang="zh-CN" dirty="0"/>
              <a:t>/3</a:t>
            </a:r>
            <a:endParaRPr lang="en-US" altLang="zh-TW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及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 flipV="1">
            <a:off x="374650" y="762000"/>
            <a:ext cx="8693150" cy="55563"/>
          </a:xfrm>
          <a:prstGeom prst="rect">
            <a:avLst/>
          </a:prstGeom>
          <a:gradFill rotWithShape="0">
            <a:gsLst>
              <a:gs pos="0">
                <a:srgbClr val="FF3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1" hangingPunct="1"/>
            <a:endParaRPr lang="zh-TW" altLang="en-US" dirty="0">
              <a:latin typeface="Monotype Corsiva" panose="03010101010201010101" pitchFamily="66" charset="0"/>
              <a:ea typeface="AR MingtiM GB" pitchFamily="49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b="0" i="0" kern="1200" cap="none" spc="0" normalizeH="0" baseline="0" noProof="0">
              <a:latin typeface="+mn-lt"/>
              <a:ea typeface="新細明體" panose="02020500000000000000" charset="-120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53400" y="6519863"/>
            <a:ext cx="1371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b="0" i="0" kern="1200" cap="none" spc="0" normalizeH="0" baseline="0" noProof="0">
                <a:latin typeface="+mn-lt"/>
                <a:ea typeface="新細明體" panose="02020500000000000000" charset="-120"/>
                <a:cs typeface="+mn-cs"/>
              </a:rPr>
              <a:t>/ 13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14E9C-E802-441C-9531-D8E0C80190BD}" type="slidenum">
              <a:rPr lang="en-US" altLang="zh-TW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2450" y="533400"/>
            <a:ext cx="683895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5346700" y="6337300"/>
            <a:ext cx="21336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7175500" y="6172200"/>
            <a:ext cx="12954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SimSun" panose="02010600030101010101" pitchFamily="2" charset="-122"/>
                <a:cs typeface="+mn-cs"/>
              </a:rPr>
              <a:t>LOGO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l" eaLnBrk="1" hangingPunct="1"/>
            <a:fld id="{9A0DB2DC-4C9A-4742-B13C-FB6460FD3503}" type="slidenum">
              <a:rPr lang="zh-CN" altLang="en-US" sz="1000" dirty="0">
                <a:latin typeface="Verdana" panose="020B0604030504040204" pitchFamily="34" charset="0"/>
                <a:ea typeface="SimSun" panose="02010600030101010101" pitchFamily="2" charset="-122"/>
              </a:rPr>
              <a:t>‹#›</a:t>
            </a:fld>
            <a:endParaRPr lang="en-US" altLang="zh-CN" sz="1000" dirty="0">
              <a:latin typeface="Verdan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9143999" cy="6858000"/>
          </a:xfrm>
          <a:prstGeom prst="rect">
            <a:avLst/>
          </a:prstGeom>
        </p:spPr>
      </p:pic>
      <p:pic>
        <p:nvPicPr>
          <p:cNvPr id="11" name="图片 6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97" b="93093"/>
          <a:stretch>
            <a:fillRect/>
          </a:stretch>
        </p:blipFill>
        <p:spPr>
          <a:xfrm>
            <a:off x="0" y="0"/>
            <a:ext cx="6300470" cy="4737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68A960AC-7DAB-50BE-2E4D-CC883E22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3" y="1304576"/>
            <a:ext cx="3938961" cy="358984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11D80A2-F811-6574-B348-189A6E166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936" y="1304576"/>
            <a:ext cx="3938962" cy="3601887"/>
          </a:xfrm>
          <a:prstGeom prst="rect">
            <a:avLst/>
          </a:prstGeom>
        </p:spPr>
      </p:pic>
      <p:sp>
        <p:nvSpPr>
          <p:cNvPr id="9" name="TextBox 103"/>
          <p:cNvSpPr txBox="1">
            <a:spLocks noChangeArrowheads="1"/>
          </p:cNvSpPr>
          <p:nvPr/>
        </p:nvSpPr>
        <p:spPr bwMode="auto">
          <a:xfrm>
            <a:off x="655862" y="125095"/>
            <a:ext cx="8051165" cy="54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zh-TW" altLang="en-US" sz="32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出貨標籤變更</a:t>
            </a:r>
          </a:p>
        </p:txBody>
      </p:sp>
      <p:sp>
        <p:nvSpPr>
          <p:cNvPr id="58" name="矩形 57"/>
          <p:cNvSpPr/>
          <p:nvPr/>
        </p:nvSpPr>
        <p:spPr>
          <a:xfrm>
            <a:off x="1767905" y="8354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原版標籤</a:t>
            </a:r>
            <a:endParaRPr lang="zh-TW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6252419" y="8354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新版標籤</a:t>
            </a:r>
            <a:endParaRPr lang="zh-TW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401793" y="5091779"/>
            <a:ext cx="8374105" cy="1339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新舊版本的標籤大小及月份代表顏色不變。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(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詳見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Page.3)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原版標籤中的所有</a:t>
            </a:r>
            <a:r>
              <a:rPr lang="zh-TW" altLang="en-US" sz="1600" kern="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一維碼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取消，改增加</a:t>
            </a:r>
            <a:r>
              <a:rPr lang="zh-TW" altLang="en-US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二維碼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並調整部分欄位。</a:t>
            </a:r>
            <a:endParaRPr lang="en-US" altLang="zh-TW" sz="1600" kern="0" dirty="0"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QR Code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格式規則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: 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需含</a:t>
            </a:r>
            <a:r>
              <a:rPr lang="zh-TW" altLang="en-US" sz="1600" kern="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順序固定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的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4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個資訊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: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 依序是</a:t>
            </a:r>
            <a:r>
              <a:rPr lang="en-US" altLang="zh-TW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PO NO;</a:t>
            </a:r>
            <a:r>
              <a:rPr lang="zh-TW" altLang="en-US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料號</a:t>
            </a:r>
            <a:r>
              <a:rPr lang="en-US" altLang="zh-TW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;</a:t>
            </a:r>
            <a:r>
              <a:rPr lang="zh-TW" altLang="en-US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數量</a:t>
            </a:r>
            <a:r>
              <a:rPr lang="en-US" altLang="zh-TW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;</a:t>
            </a:r>
            <a:r>
              <a:rPr lang="zh-TW" altLang="en-US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批次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(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呈上</a:t>
            </a:r>
            <a:r>
              <a:rPr lang="en-US" altLang="zh-TW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)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資訊間必須以</a:t>
            </a:r>
            <a:r>
              <a:rPr lang="zh-TW" altLang="en-US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分號</a:t>
            </a:r>
            <a:r>
              <a:rPr lang="en-US" altLang="zh-TW" sz="16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(;)</a:t>
            </a:r>
            <a:r>
              <a:rPr lang="zh-TW" altLang="en-US" sz="16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相連接，不然無法讀取。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B37854-2DC7-1168-46D7-600A68FC2E1D}"/>
              </a:ext>
            </a:extLst>
          </p:cNvPr>
          <p:cNvSpPr/>
          <p:nvPr/>
        </p:nvSpPr>
        <p:spPr>
          <a:xfrm>
            <a:off x="1276350" y="2005483"/>
            <a:ext cx="1047749" cy="155686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B35DBD-02D9-467E-64E0-08590B9563EF}"/>
              </a:ext>
            </a:extLst>
          </p:cNvPr>
          <p:cNvSpPr/>
          <p:nvPr/>
        </p:nvSpPr>
        <p:spPr>
          <a:xfrm>
            <a:off x="5795219" y="2076450"/>
            <a:ext cx="996106" cy="1541376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E967FD-CAFA-A105-4E23-C266C68F5A8B}"/>
              </a:ext>
            </a:extLst>
          </p:cNvPr>
          <p:cNvSpPr/>
          <p:nvPr/>
        </p:nvSpPr>
        <p:spPr>
          <a:xfrm>
            <a:off x="5981730" y="3684606"/>
            <a:ext cx="579477" cy="571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0D07F031-275E-F0CD-49A4-2CED787575FA}"/>
              </a:ext>
            </a:extLst>
          </p:cNvPr>
          <p:cNvSpPr/>
          <p:nvPr/>
        </p:nvSpPr>
        <p:spPr>
          <a:xfrm>
            <a:off x="4350715" y="3085208"/>
            <a:ext cx="442570" cy="25717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16F57F-ACD6-D26E-7733-88BBE0DE0A20}"/>
              </a:ext>
            </a:extLst>
          </p:cNvPr>
          <p:cNvSpPr/>
          <p:nvPr/>
        </p:nvSpPr>
        <p:spPr>
          <a:xfrm>
            <a:off x="7792627" y="2076450"/>
            <a:ext cx="914400" cy="421494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0F1B1C7-0065-09BF-4BB2-CFECF4425A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894"/>
          <a:stretch>
            <a:fillRect/>
          </a:stretch>
        </p:blipFill>
        <p:spPr>
          <a:xfrm>
            <a:off x="655862" y="2646981"/>
            <a:ext cx="6591601" cy="2523370"/>
          </a:xfrm>
          <a:prstGeom prst="rect">
            <a:avLst/>
          </a:prstGeom>
        </p:spPr>
      </p:pic>
      <p:sp>
        <p:nvSpPr>
          <p:cNvPr id="9" name="TextBox 103"/>
          <p:cNvSpPr txBox="1">
            <a:spLocks noChangeArrowheads="1"/>
          </p:cNvSpPr>
          <p:nvPr/>
        </p:nvSpPr>
        <p:spPr bwMode="auto">
          <a:xfrm>
            <a:off x="655862" y="125095"/>
            <a:ext cx="805116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zh-TW" sz="32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COA</a:t>
            </a:r>
            <a:r>
              <a:rPr lang="zh-TW" altLang="en-US" sz="32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附加資訊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485899" y="3851516"/>
            <a:ext cx="6931526" cy="7629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478E422-2BEA-B84B-6E42-8E7984867720}"/>
              </a:ext>
            </a:extLst>
          </p:cNvPr>
          <p:cNvSpPr txBox="1"/>
          <p:nvPr/>
        </p:nvSpPr>
        <p:spPr>
          <a:xfrm>
            <a:off x="655862" y="1315646"/>
            <a:ext cx="7159976" cy="775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原版附加資訊中的所有一維碼取消，改增加</a:t>
            </a:r>
            <a:r>
              <a:rPr lang="zh-TW" altLang="en-US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二維碼</a:t>
            </a: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。</a:t>
            </a:r>
            <a:endParaRPr lang="en-US" altLang="zh-TW" kern="0" dirty="0"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與外箱標籤的二維碼只差異在</a:t>
            </a:r>
            <a:r>
              <a:rPr lang="en-US" altLang="zh-TW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”</a:t>
            </a: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數量</a:t>
            </a:r>
            <a:r>
              <a:rPr lang="en-US" altLang="zh-TW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”</a:t>
            </a: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為該批出貨的</a:t>
            </a:r>
            <a:r>
              <a:rPr lang="zh-TW" altLang="en-US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總數量</a:t>
            </a:r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。</a:t>
            </a:r>
            <a:endParaRPr lang="en-US" altLang="zh-TW" kern="0" dirty="0"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03"/>
          <p:cNvSpPr txBox="1">
            <a:spLocks noChangeArrowheads="1"/>
          </p:cNvSpPr>
          <p:nvPr/>
        </p:nvSpPr>
        <p:spPr bwMode="auto">
          <a:xfrm>
            <a:off x="655862" y="125095"/>
            <a:ext cx="805116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sz="3200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供應商配合標簽格式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88595"/>
            <a:ext cx="2388870" cy="46355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DF8EA18-E39E-652A-8803-7063C9D6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949796"/>
            <a:ext cx="6686550" cy="5783109"/>
          </a:xfrm>
          <a:prstGeom prst="rect">
            <a:avLst/>
          </a:prstGeom>
        </p:spPr>
      </p:pic>
      <p:sp>
        <p:nvSpPr>
          <p:cNvPr id="4" name="圓角矩形 2">
            <a:extLst>
              <a:ext uri="{FF2B5EF4-FFF2-40B4-BE49-F238E27FC236}">
                <a16:creationId xmlns:a16="http://schemas.microsoft.com/office/drawing/2014/main" id="{BF04B813-7E3F-0B47-35E9-63E441862D05}"/>
              </a:ext>
            </a:extLst>
          </p:cNvPr>
          <p:cNvSpPr/>
          <p:nvPr/>
        </p:nvSpPr>
        <p:spPr>
          <a:xfrm>
            <a:off x="3457699" y="5257799"/>
            <a:ext cx="2943101" cy="9810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4E997C7-C93C-76C8-9E56-17E4D4CCAE97}"/>
              </a:ext>
            </a:extLst>
          </p:cNvPr>
          <p:cNvSpPr txBox="1"/>
          <p:nvPr/>
        </p:nvSpPr>
        <p:spPr>
          <a:xfrm>
            <a:off x="6755131" y="1186933"/>
            <a:ext cx="238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kern="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ea"/>
              </a:rPr>
              <a:t>新舊版本的標籤大小及月份代表顏色不變</a:t>
            </a:r>
            <a:endParaRPr lang="zh-TW" altLang="en-US" sz="1400" dirty="0">
              <a:highlight>
                <a:srgbClr val="00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1737</TotalTime>
  <Words>141</Words>
  <Application>Microsoft Office PowerPoint</Application>
  <PresentationFormat>如螢幕大小 (4:3)</PresentationFormat>
  <Paragraphs>12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Microsoft YaHei</vt:lpstr>
      <vt:lpstr>微軟正黑體</vt:lpstr>
      <vt:lpstr>Arial</vt:lpstr>
      <vt:lpstr>Calibri</vt:lpstr>
      <vt:lpstr>Calibri Light</vt:lpstr>
      <vt:lpstr>Monotype Corsiva</vt:lpstr>
      <vt:lpstr>Verdana</vt:lpstr>
      <vt:lpstr>Wingdings</vt:lpstr>
      <vt:lpstr>Office 主题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余 海澄</dc:creator>
  <cp:lastModifiedBy>高郁峰(Luke.Kao)</cp:lastModifiedBy>
  <cp:revision>833</cp:revision>
  <dcterms:created xsi:type="dcterms:W3CDTF">2018-11-03T01:47:00Z</dcterms:created>
  <dcterms:modified xsi:type="dcterms:W3CDTF">2026-04-08T06:10:53Z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1028-10.8.2.6633</vt:lpwstr>
  </property>
</Properties>
</file>